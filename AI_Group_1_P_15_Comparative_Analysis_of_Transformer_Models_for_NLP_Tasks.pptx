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7" r:id="rId3"/>
    <p:sldId id="268" r:id="rId4"/>
    <p:sldId id="269" r:id="rId5"/>
    <p:sldId id="258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60"/>
  </p:normalViewPr>
  <p:slideViewPr>
    <p:cSldViewPr showGuides="1">
      <p:cViewPr>
        <p:scale>
          <a:sx n="94" d="100"/>
          <a:sy n="94" d="100"/>
        </p:scale>
        <p:origin x="1064" y="88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2/4/2026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2/4/2026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2/4/2026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rive.google.com/drive/folders/1oRVCcY6yNjXHfP-dLCYEzZLMwJQ_7TDZ?usp=drive_lin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6171" y="1219200"/>
            <a:ext cx="7391400" cy="2362200"/>
          </a:xfrm>
        </p:spPr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Comparative Analysis of Transformer Models for NLP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4212" y="3962400"/>
            <a:ext cx="7467600" cy="8001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Arial Narrow" panose="020B0606020202030204" pitchFamily="34" charset="0"/>
              </a:rPr>
              <a:t>Presentation focusing on BERT and RoBERTa </a:t>
            </a:r>
            <a:r>
              <a:rPr lang="en-US" sz="2600" dirty="0">
                <a:latin typeface="Arial Narrow" panose="020B0606020202030204" pitchFamily="34" charset="0"/>
              </a:rPr>
              <a:t>architectures</a:t>
            </a:r>
            <a:r>
              <a:rPr lang="en-US" sz="2800" dirty="0">
                <a:latin typeface="Arial Narrow" panose="020B0606020202030204" pitchFamily="34" charset="0"/>
              </a:rPr>
              <a:t> comparative analysis</a:t>
            </a:r>
          </a:p>
          <a:p>
            <a:endParaRPr lang="en-US" sz="2800" dirty="0">
              <a:latin typeface="Arial Narrow" panose="020B0606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29420-7C40-8428-3444-BB6003FA8B71}"/>
              </a:ext>
            </a:extLst>
          </p:cNvPr>
          <p:cNvSpPr txBox="1"/>
          <p:nvPr/>
        </p:nvSpPr>
        <p:spPr>
          <a:xfrm>
            <a:off x="9371012" y="5750004"/>
            <a:ext cx="198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16172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Mahesh Dethe </a:t>
            </a:r>
            <a:endParaRPr lang="en-US" dirty="0">
              <a:solidFill>
                <a:srgbClr val="1617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0" dirty="0">
                <a:solidFill>
                  <a:srgbClr val="16172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Nihal Khan </a:t>
            </a:r>
          </a:p>
          <a:p>
            <a:r>
              <a:rPr lang="en-US" i="0" dirty="0">
                <a:solidFill>
                  <a:srgbClr val="16172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Samuel Ravi Tej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67315-27C5-5849-9CC7-CFC640664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4186610" cy="565139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AFD43AB-2B69-12E6-C44C-72385346966D}"/>
              </a:ext>
            </a:extLst>
          </p:cNvPr>
          <p:cNvSpPr/>
          <p:nvPr/>
        </p:nvSpPr>
        <p:spPr>
          <a:xfrm>
            <a:off x="0" y="5651391"/>
            <a:ext cx="1209040" cy="12066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53532-BFC0-761C-AF6D-39D2C3FC5313}"/>
              </a:ext>
            </a:extLst>
          </p:cNvPr>
          <p:cNvSpPr txBox="1"/>
          <p:nvPr/>
        </p:nvSpPr>
        <p:spPr>
          <a:xfrm>
            <a:off x="10331237" y="0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16172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 February 2026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Business Objective &amp; Dataset Details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Conduct a comparative analysis of different transformer models (such as BERT, RoBERTa) on sentiment analysis to evaluate performance, efficiency, and applicability.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Sentiment Analysis using the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IMDB Movie Reviews Dataset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featuring a large dataset of movie reviews labeled as positive or negative.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3C0339-8F89-DE55-D163-5B0976BDAF45}"/>
              </a:ext>
            </a:extLst>
          </p:cNvPr>
          <p:cNvSpPr/>
          <p:nvPr/>
        </p:nvSpPr>
        <p:spPr>
          <a:xfrm>
            <a:off x="608012" y="738293"/>
            <a:ext cx="609601" cy="6793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Comparative Performance and Metrics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E519B4-070F-8FC9-6AAB-2784E8A64772}"/>
              </a:ext>
            </a:extLst>
          </p:cNvPr>
          <p:cNvSpPr/>
          <p:nvPr/>
        </p:nvSpPr>
        <p:spPr>
          <a:xfrm>
            <a:off x="608012" y="738293"/>
            <a:ext cx="609601" cy="6793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82B6E3-23A0-FE3F-F145-6A3EEEF66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684"/>
              </p:ext>
            </p:extLst>
          </p:nvPr>
        </p:nvGraphicFramePr>
        <p:xfrm>
          <a:off x="1751012" y="3124200"/>
          <a:ext cx="2362199" cy="1676399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956441">
                  <a:extLst>
                    <a:ext uri="{9D8B030D-6E8A-4147-A177-3AD203B41FA5}">
                      <a16:colId xmlns:a16="http://schemas.microsoft.com/office/drawing/2014/main" val="2905617145"/>
                    </a:ext>
                  </a:extLst>
                </a:gridCol>
                <a:gridCol w="696310">
                  <a:extLst>
                    <a:ext uri="{9D8B030D-6E8A-4147-A177-3AD203B41FA5}">
                      <a16:colId xmlns:a16="http://schemas.microsoft.com/office/drawing/2014/main" val="1989582641"/>
                    </a:ext>
                  </a:extLst>
                </a:gridCol>
                <a:gridCol w="709448">
                  <a:extLst>
                    <a:ext uri="{9D8B030D-6E8A-4147-A177-3AD203B41FA5}">
                      <a16:colId xmlns:a16="http://schemas.microsoft.com/office/drawing/2014/main" val="1107541653"/>
                    </a:ext>
                  </a:extLst>
                </a:gridCol>
              </a:tblGrid>
              <a:tr h="219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Model Name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Bert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Roberta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7137888"/>
                  </a:ext>
                </a:extLst>
              </a:tr>
              <a:tr h="51581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Inference Time (Sec)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74.1416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69.3092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2542518"/>
                  </a:ext>
                </a:extLst>
              </a:tr>
              <a:tr h="43996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Model Size (mb)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417.6699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475.5142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3993473"/>
                  </a:ext>
                </a:extLst>
              </a:tr>
              <a:tr h="2199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Accuracy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88.59%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89.37%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7754988"/>
                  </a:ext>
                </a:extLst>
              </a:tr>
              <a:tr h="28066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F1 Score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89.02%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89.41%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755366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27659DAA-1C0E-3E9F-AA30-EF133D11C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412" y="1790699"/>
            <a:ext cx="6715535" cy="480060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A627A1-9121-7B68-9C8B-7D86CB973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812" y="1790699"/>
            <a:ext cx="1181265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CDF854-C575-6C34-68FC-B00842248B8B}"/>
              </a:ext>
            </a:extLst>
          </p:cNvPr>
          <p:cNvSpPr/>
          <p:nvPr/>
        </p:nvSpPr>
        <p:spPr>
          <a:xfrm>
            <a:off x="608012" y="738293"/>
            <a:ext cx="609601" cy="67934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38BA16-7D17-413A-A8C2-92283C1B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4812" y="1752600"/>
            <a:ext cx="9701425" cy="4678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comparative analysis reveals that while both models perform exceptionally well on the IMDB sentiment analysis task, they exhibit different strengths: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Accuracy &amp; Quality: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RoBERTa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the superior model in terms of predictive power, achieving a higher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Accuracy (89.37%)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F1 Score (89.41%)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compared to BERT.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Speed: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RoBERTa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also demonstrates higher efficiency during inference, completing the task in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69.31 seconds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which is roughly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6.5% faster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than BERT’s 74.14 seconds.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Resource Efficiency: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BERT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the more "lightweight" option, with a model size of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417.67 MB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making it approximately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12% smaller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than RoBERTa (475.51 MB).</a:t>
            </a:r>
          </a:p>
        </p:txBody>
      </p:sp>
    </p:spTree>
    <p:extLst>
      <p:ext uri="{BB962C8B-B14F-4D97-AF65-F5344CB8AC3E}">
        <p14:creationId xmlns:p14="http://schemas.microsoft.com/office/powerpoint/2010/main" val="259333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8411" y="2438400"/>
            <a:ext cx="4419601" cy="9144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 !!!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979612" y="5715000"/>
            <a:ext cx="8153400" cy="1066800"/>
          </a:xfrm>
        </p:spPr>
        <p:txBody>
          <a:bodyPr>
            <a:normAutofit fontScale="70000" lnSpcReduction="20000"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Project hyperlinks and source files are available for review as detailed in the project documentation. Access the project file via the provided hyperlinks for deeper insights.</a:t>
            </a:r>
          </a:p>
          <a:p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EE0CB3-2A83-9DCC-01B5-CA8115CE5547}"/>
              </a:ext>
            </a:extLst>
          </p:cNvPr>
          <p:cNvSpPr/>
          <p:nvPr/>
        </p:nvSpPr>
        <p:spPr>
          <a:xfrm>
            <a:off x="0" y="5651391"/>
            <a:ext cx="1209040" cy="12066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9BE500-26EB-B1D0-B489-F514EBE34EEC}"/>
              </a:ext>
            </a:extLst>
          </p:cNvPr>
          <p:cNvGrpSpPr/>
          <p:nvPr/>
        </p:nvGrpSpPr>
        <p:grpSpPr>
          <a:xfrm>
            <a:off x="10153437" y="5791200"/>
            <a:ext cx="914400" cy="914399"/>
            <a:chOff x="1249680" y="5651391"/>
            <a:chExt cx="589176" cy="57790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D45293B-11C8-0B3F-A3B8-CF32C1A7477C}"/>
                </a:ext>
              </a:extLst>
            </p:cNvPr>
            <p:cNvSpPr/>
            <p:nvPr/>
          </p:nvSpPr>
          <p:spPr>
            <a:xfrm>
              <a:off x="1249680" y="5660488"/>
              <a:ext cx="589176" cy="56880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 descr="Link">
              <a:hlinkClick r:id="rId2"/>
              <a:extLst>
                <a:ext uri="{FF2B5EF4-FFF2-40B4-BE49-F238E27FC236}">
                  <a16:creationId xmlns:a16="http://schemas.microsoft.com/office/drawing/2014/main" id="{03BA9E78-3002-1F85-4A02-A3DD76FA1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93812" y="5651391"/>
              <a:ext cx="509379" cy="5688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09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70</TotalTime>
  <Words>261</Words>
  <Application>Microsoft Office PowerPoint</Application>
  <PresentationFormat>Custom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Narrow</vt:lpstr>
      <vt:lpstr>Calibri</vt:lpstr>
      <vt:lpstr>Euphemia</vt:lpstr>
      <vt:lpstr>Math 16x9</vt:lpstr>
      <vt:lpstr>Comparative Analysis of Transformer Models for NLP Tasks</vt:lpstr>
      <vt:lpstr>Business Objective &amp; Dataset Details</vt:lpstr>
      <vt:lpstr>Comparative Performance and Metrics</vt:lpstr>
      <vt:lpstr>Conclusion</vt:lpstr>
      <vt:lpstr>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Dethe</dc:creator>
  <cp:lastModifiedBy>Mahesh Dethe</cp:lastModifiedBy>
  <cp:revision>2</cp:revision>
  <dcterms:created xsi:type="dcterms:W3CDTF">2026-02-04T08:23:53Z</dcterms:created>
  <dcterms:modified xsi:type="dcterms:W3CDTF">2026-02-04T09:34:35Z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